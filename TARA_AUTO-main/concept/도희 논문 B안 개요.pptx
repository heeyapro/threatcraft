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3" autoAdjust="0"/>
    <p:restoredTop sz="94660"/>
  </p:normalViewPr>
  <p:slideViewPr>
    <p:cSldViewPr snapToGrid="0">
      <p:cViewPr>
        <p:scale>
          <a:sx n="50" d="100"/>
          <a:sy n="50" d="100"/>
        </p:scale>
        <p:origin x="1280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8B5DDA-DF6E-F138-C7F8-C15F4EE7C6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FEFB17F-9F00-B22A-D3E4-35D2CE9ADC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5033BF-A081-6D58-1C73-1555AA715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F9110-03D7-4511-85B2-CC1FD6BB6BF5}" type="datetimeFigureOut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623484-BBDB-A6D9-9108-92A58EF1D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D237F51-B8D9-089E-8FAB-09C9CB4CD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81847-9F54-436D-B5D6-E076725459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0142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81E16A-3716-BEA3-9FFC-751FA6DDE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4A351A-B83B-E3A1-D8E8-20E059AC3C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F15FF7-305E-50E5-BE17-FA8207FCE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F9110-03D7-4511-85B2-CC1FD6BB6BF5}" type="datetimeFigureOut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F240AB-E457-4FD1-3A4F-F48B49F9D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56E079-C9FF-E13B-4E43-172D68DC3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81847-9F54-436D-B5D6-E076725459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3687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63C1E5-648A-CDF6-9EF4-B8DB82BCD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C33C5FA-22DA-C743-FBA6-662E85D02A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5D5A9A-A2C6-A20E-0EBE-5EC609F0A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F9110-03D7-4511-85B2-CC1FD6BB6BF5}" type="datetimeFigureOut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1A508F-B9EC-19F2-A429-15BE52A76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15A9D8-3195-73AE-726F-4640F313A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81847-9F54-436D-B5D6-E076725459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622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9D1097-6007-DACB-00DA-CBB72C038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2E95E0-C2DC-9A72-A089-71CE2B33AC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001B4B-7809-35C2-58ED-7C4C050FA2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DDAFA9-B0B2-8B99-735B-7CFA1EC18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F9110-03D7-4511-85B2-CC1FD6BB6BF5}" type="datetimeFigureOut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31F0D5-3833-FE1D-E257-AB962A36A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E2FD6A3-C095-C225-07FC-5A941DF38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81847-9F54-436D-B5D6-E076725459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3675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A86291-D34C-597E-F1DA-E5578AE80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9CF09A3-504D-F209-82B8-B20CDD77BD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8E8D6DD-5C5E-7E0E-564D-4A95F7343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0C9090C-D790-DDC2-BC2B-DF30E9DE53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64D1520-BE94-EA0F-03BF-E203E1545E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367B25D-C1E2-8E9A-07FC-FE26854D6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F9110-03D7-4511-85B2-CC1FD6BB6BF5}" type="datetimeFigureOut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7ECD16B-1562-46F9-2751-0E594EF7A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79747B6-3E41-D36E-A851-6EE42A5BE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81847-9F54-436D-B5D6-E076725459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0100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3A7F45-CE25-6C63-48F6-EF22163E9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6117A02-3660-1249-6FE2-330B19B65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F9110-03D7-4511-85B2-CC1FD6BB6BF5}" type="datetimeFigureOut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4F91125-A05B-9A70-5D57-F44BF050A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B655CE9-E99F-5F24-2BF2-73B6D8990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81847-9F54-436D-B5D6-E076725459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6691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133DF4E-6E36-C050-C703-08829680C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F9110-03D7-4511-85B2-CC1FD6BB6BF5}" type="datetimeFigureOut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051D553-AE9C-ABF2-D87F-9775DF256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DA0E39F-40BA-E17F-075A-1E5BD0BCA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81847-9F54-436D-B5D6-E076725459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4518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79A4F6-B73C-AC54-4CB1-5964DF8B7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3EF439-FFCD-BF2A-9CAC-AB200289E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227C82D-B53D-A257-EBA1-6F4910C11B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F04FCD5-05A0-8BAE-D349-109B30E92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F9110-03D7-4511-85B2-CC1FD6BB6BF5}" type="datetimeFigureOut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2669A45-8746-C93B-9C47-6594FE936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0735A81-C8D8-1EE8-7D5E-95B60DEFA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81847-9F54-436D-B5D6-E076725459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1087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4764F1-B016-338F-6719-AF24C9E9C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0026B65-0515-2291-EACC-7B3ED4DF4A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EFB24B0-A066-F9F7-BB0C-725C9B9887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852FD1F-AEE2-EC83-CCF5-3A898B583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F9110-03D7-4511-85B2-CC1FD6BB6BF5}" type="datetimeFigureOut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3F70FDF-C9A2-8CD1-8526-B7D08E0F4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21799F6-63BE-1034-8034-117643D65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81847-9F54-436D-B5D6-E076725459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77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4B934E-D5B8-43F4-85AB-1D006169C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5478019-BF18-B2D6-2086-DF957AF61A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C33B25-97FF-9DBD-142F-B715C411A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F9110-03D7-4511-85B2-CC1FD6BB6BF5}" type="datetimeFigureOut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026152-68F1-0482-B754-0C0F79C73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CBEC3E-C84F-8E3A-1D5A-8A77FABFC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81847-9F54-436D-B5D6-E076725459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739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58ECAFB-BEC4-9FFA-7B03-6139593D99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085E54-8E17-DD43-DB8C-DAFE66E370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3936D4-390F-1AEF-6230-0250DDCDD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F9110-03D7-4511-85B2-CC1FD6BB6BF5}" type="datetimeFigureOut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75AE44-4ED7-4928-73C1-54B934E66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F24424-602A-C11E-DD0B-7D893D50A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81847-9F54-436D-B5D6-E076725459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3507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433731E-EF95-B97E-C461-33A6A7425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CA25E1B-D004-0768-9B9F-AB6ED77AF8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54FD25-BB00-FB41-C88C-FB5C639CFE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EF9110-03D7-4511-85B2-CC1FD6BB6BF5}" type="datetimeFigureOut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752DD4-2756-88F2-D1DD-B209DBCAE7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F43A9B-6561-B2E8-3F11-0E685B880B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B81847-9F54-436D-B5D6-E076725459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6282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B7085F5C-157A-254D-539F-2823C02A17C4}"/>
              </a:ext>
            </a:extLst>
          </p:cNvPr>
          <p:cNvGrpSpPr/>
          <p:nvPr/>
        </p:nvGrpSpPr>
        <p:grpSpPr>
          <a:xfrm>
            <a:off x="-3705428" y="203200"/>
            <a:ext cx="16528312" cy="6135684"/>
            <a:chOff x="-186717" y="48245"/>
            <a:chExt cx="16528312" cy="6135684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C2235AFA-2FAA-D7A4-ED66-7C82DE1AC864}"/>
                </a:ext>
              </a:extLst>
            </p:cNvPr>
            <p:cNvSpPr/>
            <p:nvPr/>
          </p:nvSpPr>
          <p:spPr>
            <a:xfrm>
              <a:off x="7494901" y="2587043"/>
              <a:ext cx="1819806" cy="394424"/>
            </a:xfrm>
            <a:prstGeom prst="rect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dirty="0"/>
                <a:t>Out-techniques</a:t>
              </a:r>
              <a:endParaRPr lang="ko-KR" altLang="en-US" sz="1400" b="1" dirty="0"/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0873E991-02E4-39D8-FC54-B783217D2C0A}"/>
                </a:ext>
              </a:extLst>
            </p:cNvPr>
            <p:cNvSpPr/>
            <p:nvPr/>
          </p:nvSpPr>
          <p:spPr>
            <a:xfrm>
              <a:off x="7494903" y="3546156"/>
              <a:ext cx="1819804" cy="698746"/>
            </a:xfrm>
            <a:prstGeom prst="rect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In+Through</a:t>
              </a:r>
              <a:endPara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Technique</a:t>
              </a:r>
              <a:r>
                <a:rPr kumimoji="0" lang="ko-KR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의 조합</a:t>
              </a: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B4719920-27FB-1C51-AB89-B98EA27EDE8B}"/>
                </a:ext>
              </a:extLst>
            </p:cNvPr>
            <p:cNvSpPr/>
            <p:nvPr/>
          </p:nvSpPr>
          <p:spPr>
            <a:xfrm>
              <a:off x="9657199" y="2449219"/>
              <a:ext cx="2664384" cy="609698"/>
            </a:xfrm>
            <a:prstGeom prst="rect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dirty="0"/>
                <a:t>Unified Kill Chain </a:t>
              </a:r>
              <a:r>
                <a:rPr lang="ko-KR" altLang="en-US" sz="1400" b="1" dirty="0"/>
                <a:t>내 </a:t>
              </a:r>
              <a:r>
                <a:rPr lang="en-US" altLang="ko-KR" sz="1400" b="1" dirty="0"/>
                <a:t>Technique </a:t>
              </a:r>
              <a:r>
                <a:rPr lang="ko-KR" altLang="en-US" sz="1400" b="1" dirty="0"/>
                <a:t>형태로 위협 정의</a:t>
              </a: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8829F839-9022-4A57-4E21-D7E880BE97AF}"/>
                </a:ext>
              </a:extLst>
            </p:cNvPr>
            <p:cNvSpPr/>
            <p:nvPr/>
          </p:nvSpPr>
          <p:spPr>
            <a:xfrm>
              <a:off x="400126" y="1399129"/>
              <a:ext cx="2201973" cy="662137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dirty="0"/>
                <a:t>Threat Scenario</a:t>
              </a:r>
            </a:p>
            <a:p>
              <a:pPr algn="ctr"/>
              <a:r>
                <a:rPr lang="en-US" altLang="ko-KR" sz="1400" b="1" dirty="0"/>
                <a:t>Identification</a:t>
              </a:r>
              <a:endParaRPr lang="ko-KR" altLang="en-US" sz="1400" b="1" dirty="0"/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6505FFD8-1DB2-35EE-02EC-D66035F0D62D}"/>
                </a:ext>
              </a:extLst>
            </p:cNvPr>
            <p:cNvSpPr/>
            <p:nvPr/>
          </p:nvSpPr>
          <p:spPr>
            <a:xfrm>
              <a:off x="-186717" y="3646792"/>
              <a:ext cx="1654375" cy="497474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dirty="0"/>
                <a:t>Attack Feasibility Analysis</a:t>
              </a:r>
              <a:endParaRPr lang="ko-KR" altLang="en-US" sz="1400" b="1" dirty="0"/>
            </a:p>
          </p:txBody>
        </p:sp>
        <p:cxnSp>
          <p:nvCxnSpPr>
            <p:cNvPr id="58" name="직선 화살표 연결선 57">
              <a:extLst>
                <a:ext uri="{FF2B5EF4-FFF2-40B4-BE49-F238E27FC236}">
                  <a16:creationId xmlns:a16="http://schemas.microsoft.com/office/drawing/2014/main" id="{94153AA5-B901-80C2-C81A-A67734298F5D}"/>
                </a:ext>
              </a:extLst>
            </p:cNvPr>
            <p:cNvCxnSpPr>
              <a:cxnSpLocks/>
              <a:stCxn id="50" idx="2"/>
              <a:endCxn id="52" idx="0"/>
            </p:cNvCxnSpPr>
            <p:nvPr/>
          </p:nvCxnSpPr>
          <p:spPr>
            <a:xfrm>
              <a:off x="1496398" y="1215983"/>
              <a:ext cx="4715" cy="18314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A9FD4795-FE34-0EC7-0AFB-BD4B2E90F5F6}"/>
                </a:ext>
              </a:extLst>
            </p:cNvPr>
            <p:cNvSpPr/>
            <p:nvPr/>
          </p:nvSpPr>
          <p:spPr>
            <a:xfrm>
              <a:off x="1534565" y="2544645"/>
              <a:ext cx="1654375" cy="497474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dirty="0"/>
                <a:t>Impact Estimation</a:t>
              </a:r>
              <a:endParaRPr lang="ko-KR" altLang="en-US" sz="1400" b="1" dirty="0"/>
            </a:p>
          </p:txBody>
        </p:sp>
        <p:cxnSp>
          <p:nvCxnSpPr>
            <p:cNvPr id="64" name="연결선: 꺾임 63">
              <a:extLst>
                <a:ext uri="{FF2B5EF4-FFF2-40B4-BE49-F238E27FC236}">
                  <a16:creationId xmlns:a16="http://schemas.microsoft.com/office/drawing/2014/main" id="{21916F23-06BB-018D-E769-3C660AEADF2E}"/>
                </a:ext>
              </a:extLst>
            </p:cNvPr>
            <p:cNvCxnSpPr>
              <a:cxnSpLocks/>
              <a:stCxn id="52" idx="2"/>
              <a:endCxn id="53" idx="0"/>
            </p:cNvCxnSpPr>
            <p:nvPr/>
          </p:nvCxnSpPr>
          <p:spPr>
            <a:xfrm rot="5400000">
              <a:off x="278029" y="2423708"/>
              <a:ext cx="1585526" cy="860642"/>
            </a:xfrm>
            <a:prstGeom prst="bentConnector3">
              <a:avLst>
                <a:gd name="adj1" fmla="val 15279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연결선: 꺾임 66">
              <a:extLst>
                <a:ext uri="{FF2B5EF4-FFF2-40B4-BE49-F238E27FC236}">
                  <a16:creationId xmlns:a16="http://schemas.microsoft.com/office/drawing/2014/main" id="{08501C8D-FE0B-3435-9C1B-29725D089449}"/>
                </a:ext>
              </a:extLst>
            </p:cNvPr>
            <p:cNvCxnSpPr>
              <a:cxnSpLocks/>
              <a:stCxn id="52" idx="2"/>
              <a:endCxn id="62" idx="0"/>
            </p:cNvCxnSpPr>
            <p:nvPr/>
          </p:nvCxnSpPr>
          <p:spPr>
            <a:xfrm rot="16200000" flipH="1">
              <a:off x="1689744" y="1872635"/>
              <a:ext cx="483379" cy="860640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C4A00D14-603D-26C8-DD50-790C1006DDD9}"/>
                </a:ext>
              </a:extLst>
            </p:cNvPr>
            <p:cNvSpPr/>
            <p:nvPr/>
          </p:nvSpPr>
          <p:spPr>
            <a:xfrm>
              <a:off x="3871629" y="1399129"/>
              <a:ext cx="3134868" cy="312223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endParaRPr lang="en-US" altLang="ko-KR" b="1" dirty="0"/>
            </a:p>
            <a:p>
              <a:pPr algn="ctr"/>
              <a:r>
                <a:rPr lang="en-US" altLang="ko-KR" b="1" dirty="0"/>
                <a:t>Attack Scenario</a:t>
              </a:r>
            </a:p>
            <a:p>
              <a:pPr algn="ctr"/>
              <a:r>
                <a:rPr lang="en-US" altLang="ko-KR" sz="1200" b="1" dirty="0"/>
                <a:t>(=Attack Tree &amp; Graph)</a:t>
              </a:r>
              <a:endParaRPr lang="ko-KR" altLang="en-US" sz="1200" b="1" dirty="0"/>
            </a:p>
          </p:txBody>
        </p:sp>
        <p:cxnSp>
          <p:nvCxnSpPr>
            <p:cNvPr id="87" name="직선 화살표 연결선 86">
              <a:extLst>
                <a:ext uri="{FF2B5EF4-FFF2-40B4-BE49-F238E27FC236}">
                  <a16:creationId xmlns:a16="http://schemas.microsoft.com/office/drawing/2014/main" id="{24F41980-8B37-5BE6-94FA-1C489A9968D2}"/>
                </a:ext>
              </a:extLst>
            </p:cNvPr>
            <p:cNvCxnSpPr>
              <a:cxnSpLocks/>
              <a:stCxn id="52" idx="3"/>
            </p:cNvCxnSpPr>
            <p:nvPr/>
          </p:nvCxnSpPr>
          <p:spPr>
            <a:xfrm flipV="1">
              <a:off x="2602099" y="1730197"/>
              <a:ext cx="1223611" cy="1"/>
            </a:xfrm>
            <a:prstGeom prst="straightConnector1">
              <a:avLst/>
            </a:prstGeom>
            <a:ln w="28575">
              <a:prstDash val="sysDot"/>
              <a:headEnd type="triangl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9" name="직선 화살표 연결선 88">
              <a:extLst>
                <a:ext uri="{FF2B5EF4-FFF2-40B4-BE49-F238E27FC236}">
                  <a16:creationId xmlns:a16="http://schemas.microsoft.com/office/drawing/2014/main" id="{A73464D7-4F17-59F0-8EB6-521CF7F31EE4}"/>
                </a:ext>
              </a:extLst>
            </p:cNvPr>
            <p:cNvCxnSpPr>
              <a:cxnSpLocks/>
              <a:stCxn id="5" idx="1"/>
              <a:endCxn id="79" idx="3"/>
            </p:cNvCxnSpPr>
            <p:nvPr/>
          </p:nvCxnSpPr>
          <p:spPr>
            <a:xfrm flipH="1">
              <a:off x="6616699" y="2784255"/>
              <a:ext cx="878202" cy="9127"/>
            </a:xfrm>
            <a:prstGeom prst="straightConnector1">
              <a:avLst/>
            </a:prstGeom>
            <a:ln w="38100">
              <a:prstDash val="sysDot"/>
              <a:headEnd type="triangl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9" name="사각형: 둥근 모서리 78">
              <a:extLst>
                <a:ext uri="{FF2B5EF4-FFF2-40B4-BE49-F238E27FC236}">
                  <a16:creationId xmlns:a16="http://schemas.microsoft.com/office/drawing/2014/main" id="{860ACB90-EDBC-2031-CF71-18652A99B05B}"/>
                </a:ext>
              </a:extLst>
            </p:cNvPr>
            <p:cNvSpPr/>
            <p:nvPr/>
          </p:nvSpPr>
          <p:spPr>
            <a:xfrm>
              <a:off x="4261426" y="2493665"/>
              <a:ext cx="2355273" cy="599433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/>
                <a:t>Root Node</a:t>
              </a:r>
            </a:p>
            <a:p>
              <a:pPr algn="ctr"/>
              <a:r>
                <a:rPr lang="en-US" altLang="ko-KR" sz="1200" b="1" dirty="0"/>
                <a:t>(=Damage Scenario)</a:t>
              </a:r>
              <a:endParaRPr lang="ko-KR" altLang="en-US" sz="1200" b="1" dirty="0"/>
            </a:p>
          </p:txBody>
        </p:sp>
        <p:cxnSp>
          <p:nvCxnSpPr>
            <p:cNvPr id="94" name="직선 화살표 연결선 93">
              <a:extLst>
                <a:ext uri="{FF2B5EF4-FFF2-40B4-BE49-F238E27FC236}">
                  <a16:creationId xmlns:a16="http://schemas.microsoft.com/office/drawing/2014/main" id="{B89150EE-C0A7-8EEE-C6BF-8256E82C4B29}"/>
                </a:ext>
              </a:extLst>
            </p:cNvPr>
            <p:cNvCxnSpPr>
              <a:cxnSpLocks/>
              <a:stCxn id="29" idx="1"/>
              <a:endCxn id="88" idx="3"/>
            </p:cNvCxnSpPr>
            <p:nvPr/>
          </p:nvCxnSpPr>
          <p:spPr>
            <a:xfrm flipH="1" flipV="1">
              <a:off x="6842226" y="3895525"/>
              <a:ext cx="652677" cy="4"/>
            </a:xfrm>
            <a:prstGeom prst="straightConnector1">
              <a:avLst/>
            </a:prstGeom>
            <a:ln w="38100">
              <a:prstDash val="sysDot"/>
              <a:headEnd type="triangl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2" name="사각형: 둥근 모서리 81">
              <a:extLst>
                <a:ext uri="{FF2B5EF4-FFF2-40B4-BE49-F238E27FC236}">
                  <a16:creationId xmlns:a16="http://schemas.microsoft.com/office/drawing/2014/main" id="{4338E064-CDFD-7641-ADED-09ED9C055CF6}"/>
                </a:ext>
              </a:extLst>
            </p:cNvPr>
            <p:cNvSpPr/>
            <p:nvPr/>
          </p:nvSpPr>
          <p:spPr>
            <a:xfrm>
              <a:off x="4065483" y="3642691"/>
              <a:ext cx="1329490" cy="544939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/>
                <a:t>Sub-Tree</a:t>
              </a:r>
            </a:p>
            <a:p>
              <a:pPr algn="ctr"/>
              <a:r>
                <a:rPr lang="en-US" altLang="ko-KR" sz="1200" b="1" dirty="0"/>
                <a:t>(=Attack Path)</a:t>
              </a:r>
              <a:endParaRPr lang="ko-KR" altLang="en-US" sz="1200" b="1" dirty="0"/>
            </a:p>
          </p:txBody>
        </p:sp>
        <p:sp>
          <p:nvSpPr>
            <p:cNvPr id="88" name="사각형: 둥근 모서리 87">
              <a:extLst>
                <a:ext uri="{FF2B5EF4-FFF2-40B4-BE49-F238E27FC236}">
                  <a16:creationId xmlns:a16="http://schemas.microsoft.com/office/drawing/2014/main" id="{95F1E39F-37B4-D237-7FDA-F0302D73F0A2}"/>
                </a:ext>
              </a:extLst>
            </p:cNvPr>
            <p:cNvSpPr/>
            <p:nvPr/>
          </p:nvSpPr>
          <p:spPr>
            <a:xfrm>
              <a:off x="5512736" y="3623055"/>
              <a:ext cx="1329490" cy="544939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/>
                <a:t>Sub-Tree</a:t>
              </a:r>
            </a:p>
            <a:p>
              <a:pPr algn="ctr"/>
              <a:r>
                <a:rPr lang="en-US" altLang="ko-KR" sz="1200" b="1" dirty="0"/>
                <a:t>(=Attack Path)</a:t>
              </a:r>
              <a:endParaRPr lang="ko-KR" altLang="en-US" sz="1200" b="1" dirty="0"/>
            </a:p>
          </p:txBody>
        </p:sp>
        <p:cxnSp>
          <p:nvCxnSpPr>
            <p:cNvPr id="100" name="연결선: 꺾임 99">
              <a:extLst>
                <a:ext uri="{FF2B5EF4-FFF2-40B4-BE49-F238E27FC236}">
                  <a16:creationId xmlns:a16="http://schemas.microsoft.com/office/drawing/2014/main" id="{C1F54192-2377-20CA-E2D1-E7F08B601F80}"/>
                </a:ext>
              </a:extLst>
            </p:cNvPr>
            <p:cNvCxnSpPr>
              <a:stCxn id="79" idx="2"/>
              <a:endCxn id="82" idx="0"/>
            </p:cNvCxnSpPr>
            <p:nvPr/>
          </p:nvCxnSpPr>
          <p:spPr>
            <a:xfrm rot="5400000">
              <a:off x="4809850" y="3013477"/>
              <a:ext cx="549593" cy="708835"/>
            </a:xfrm>
            <a:prstGeom prst="bentConnector3">
              <a:avLst>
                <a:gd name="adj1" fmla="val 46605"/>
              </a:avLst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1" name="연결선: 꺾임 100">
              <a:extLst>
                <a:ext uri="{FF2B5EF4-FFF2-40B4-BE49-F238E27FC236}">
                  <a16:creationId xmlns:a16="http://schemas.microsoft.com/office/drawing/2014/main" id="{6C01D3C3-369A-924E-544A-C7713E5BA919}"/>
                </a:ext>
              </a:extLst>
            </p:cNvPr>
            <p:cNvCxnSpPr>
              <a:cxnSpLocks/>
              <a:stCxn id="79" idx="2"/>
              <a:endCxn id="88" idx="0"/>
            </p:cNvCxnSpPr>
            <p:nvPr/>
          </p:nvCxnSpPr>
          <p:spPr>
            <a:xfrm rot="16200000" flipH="1">
              <a:off x="5543294" y="2988867"/>
              <a:ext cx="529957" cy="738418"/>
            </a:xfrm>
            <a:prstGeom prst="bentConnector3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0F95A982-8B55-BBD0-6D1A-F2EB62514A18}"/>
                </a:ext>
              </a:extLst>
            </p:cNvPr>
            <p:cNvSpPr txBox="1"/>
            <p:nvPr/>
          </p:nvSpPr>
          <p:spPr>
            <a:xfrm>
              <a:off x="135191" y="5814597"/>
              <a:ext cx="27224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/>
                <a:t>[TARA </a:t>
              </a:r>
              <a:r>
                <a:rPr lang="ko-KR" altLang="en-US" b="1" dirty="0"/>
                <a:t>위협모델링</a:t>
              </a:r>
              <a:r>
                <a:rPr lang="en-US" altLang="ko-KR" b="1" dirty="0"/>
                <a:t> </a:t>
              </a:r>
              <a:r>
                <a:rPr lang="ko-KR" altLang="en-US" b="1" dirty="0"/>
                <a:t>절차</a:t>
              </a:r>
              <a:r>
                <a:rPr lang="en-US" altLang="ko-KR" b="1" dirty="0"/>
                <a:t>]</a:t>
              </a:r>
              <a:endParaRPr lang="ko-KR" altLang="en-US" b="1" dirty="0"/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88C8BB25-285B-58C9-AC69-7F330F6A9E28}"/>
                </a:ext>
              </a:extLst>
            </p:cNvPr>
            <p:cNvSpPr txBox="1"/>
            <p:nvPr/>
          </p:nvSpPr>
          <p:spPr>
            <a:xfrm>
              <a:off x="4379308" y="5814597"/>
              <a:ext cx="22797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/>
                <a:t>[</a:t>
              </a:r>
              <a:r>
                <a:rPr lang="ko-KR" altLang="en-US" b="1" dirty="0"/>
                <a:t>위협모델링</a:t>
              </a:r>
              <a:r>
                <a:rPr lang="en-US" altLang="ko-KR" b="1" dirty="0"/>
                <a:t> </a:t>
              </a:r>
              <a:r>
                <a:rPr lang="ko-KR" altLang="en-US" b="1" dirty="0"/>
                <a:t>결과물</a:t>
              </a:r>
              <a:r>
                <a:rPr lang="en-US" altLang="ko-KR" b="1" dirty="0"/>
                <a:t>]</a:t>
              </a:r>
              <a:endParaRPr lang="ko-KR" altLang="en-US" b="1" dirty="0"/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CE99D5F8-4A58-9AD9-80ED-88270D9DCC4B}"/>
                </a:ext>
              </a:extLst>
            </p:cNvPr>
            <p:cNvSpPr txBox="1"/>
            <p:nvPr/>
          </p:nvSpPr>
          <p:spPr>
            <a:xfrm>
              <a:off x="7267048" y="5814597"/>
              <a:ext cx="22685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/>
                <a:t>[Unified Kill Chain]</a:t>
              </a:r>
              <a:endParaRPr lang="ko-KR" altLang="en-US" b="1" dirty="0"/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1912CEA3-938F-F688-1594-53669B423844}"/>
                </a:ext>
              </a:extLst>
            </p:cNvPr>
            <p:cNvSpPr txBox="1"/>
            <p:nvPr/>
          </p:nvSpPr>
          <p:spPr>
            <a:xfrm>
              <a:off x="10195744" y="5814597"/>
              <a:ext cx="15872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/>
                <a:t>[</a:t>
              </a:r>
              <a:r>
                <a:rPr lang="ko-KR" altLang="en-US" b="1" dirty="0"/>
                <a:t>연구 결과물</a:t>
              </a:r>
              <a:r>
                <a:rPr lang="en-US" altLang="ko-KR" b="1" dirty="0"/>
                <a:t>]</a:t>
              </a:r>
              <a:endParaRPr lang="ko-KR" altLang="en-US" b="1" dirty="0"/>
            </a:p>
          </p:txBody>
        </p:sp>
        <p:cxnSp>
          <p:nvCxnSpPr>
            <p:cNvPr id="144" name="직선 화살표 연결선 143">
              <a:extLst>
                <a:ext uri="{FF2B5EF4-FFF2-40B4-BE49-F238E27FC236}">
                  <a16:creationId xmlns:a16="http://schemas.microsoft.com/office/drawing/2014/main" id="{BB5C8AA8-2375-EC46-B6A0-DE217AE402AF}"/>
                </a:ext>
              </a:extLst>
            </p:cNvPr>
            <p:cNvCxnSpPr>
              <a:cxnSpLocks/>
              <a:stCxn id="50" idx="3"/>
              <a:endCxn id="74" idx="1"/>
            </p:cNvCxnSpPr>
            <p:nvPr/>
          </p:nvCxnSpPr>
          <p:spPr>
            <a:xfrm flipV="1">
              <a:off x="2597384" y="965198"/>
              <a:ext cx="1274245" cy="2048"/>
            </a:xfrm>
            <a:prstGeom prst="straightConnector1">
              <a:avLst/>
            </a:prstGeom>
            <a:ln w="28575">
              <a:prstDash val="sysDot"/>
              <a:headEnd type="triangl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6E9D8F0D-112A-4B1A-38C2-224E0BCD9662}"/>
                </a:ext>
              </a:extLst>
            </p:cNvPr>
            <p:cNvSpPr/>
            <p:nvPr/>
          </p:nvSpPr>
          <p:spPr>
            <a:xfrm>
              <a:off x="395411" y="718509"/>
              <a:ext cx="2201973" cy="497474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dirty="0"/>
                <a:t>Item(Asset) Definition</a:t>
              </a:r>
              <a:endParaRPr lang="ko-KR" altLang="en-US" sz="1400" b="1" dirty="0"/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F7550A94-A6F4-DA1D-AF60-E3155BB08C2B}"/>
                </a:ext>
              </a:extLst>
            </p:cNvPr>
            <p:cNvSpPr/>
            <p:nvPr/>
          </p:nvSpPr>
          <p:spPr>
            <a:xfrm>
              <a:off x="3871629" y="718509"/>
              <a:ext cx="3134868" cy="49337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/>
                <a:t>DFD </a:t>
              </a:r>
              <a:r>
                <a:rPr lang="en-US" altLang="ko-KR" sz="1200" b="1" dirty="0"/>
                <a:t>(=System Design, Architecture)</a:t>
              </a:r>
              <a:endParaRPr lang="ko-KR" altLang="en-US" b="1" dirty="0"/>
            </a:p>
          </p:txBody>
        </p:sp>
        <p:sp>
          <p:nvSpPr>
            <p:cNvPr id="161" name="직사각형 160">
              <a:extLst>
                <a:ext uri="{FF2B5EF4-FFF2-40B4-BE49-F238E27FC236}">
                  <a16:creationId xmlns:a16="http://schemas.microsoft.com/office/drawing/2014/main" id="{B26D7359-A869-9BC7-9EF4-0060B9926A31}"/>
                </a:ext>
              </a:extLst>
            </p:cNvPr>
            <p:cNvSpPr/>
            <p:nvPr/>
          </p:nvSpPr>
          <p:spPr>
            <a:xfrm>
              <a:off x="395411" y="4731830"/>
              <a:ext cx="2201973" cy="497474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dirty="0"/>
                <a:t>Risk</a:t>
              </a:r>
              <a:r>
                <a:rPr lang="ko-KR" altLang="en-US" sz="1400" b="1" dirty="0"/>
                <a:t> </a:t>
              </a:r>
              <a:r>
                <a:rPr lang="en-US" altLang="ko-KR" sz="1400" b="1" dirty="0"/>
                <a:t>Analysis</a:t>
              </a:r>
              <a:endParaRPr lang="ko-KR" altLang="en-US" sz="1400" b="1" dirty="0"/>
            </a:p>
          </p:txBody>
        </p:sp>
        <p:cxnSp>
          <p:nvCxnSpPr>
            <p:cNvPr id="162" name="연결선: 꺾임 161">
              <a:extLst>
                <a:ext uri="{FF2B5EF4-FFF2-40B4-BE49-F238E27FC236}">
                  <a16:creationId xmlns:a16="http://schemas.microsoft.com/office/drawing/2014/main" id="{F672AC0B-8439-A712-A660-86DAD1E0792E}"/>
                </a:ext>
              </a:extLst>
            </p:cNvPr>
            <p:cNvCxnSpPr>
              <a:cxnSpLocks/>
              <a:stCxn id="53" idx="2"/>
              <a:endCxn id="161" idx="0"/>
            </p:cNvCxnSpPr>
            <p:nvPr/>
          </p:nvCxnSpPr>
          <p:spPr>
            <a:xfrm rot="16200000" flipH="1">
              <a:off x="774652" y="4010084"/>
              <a:ext cx="587564" cy="855927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5" name="연결선: 꺾임 164">
              <a:extLst>
                <a:ext uri="{FF2B5EF4-FFF2-40B4-BE49-F238E27FC236}">
                  <a16:creationId xmlns:a16="http://schemas.microsoft.com/office/drawing/2014/main" id="{39A97C84-79E7-E004-BECA-E007D469CEDF}"/>
                </a:ext>
              </a:extLst>
            </p:cNvPr>
            <p:cNvCxnSpPr>
              <a:cxnSpLocks/>
              <a:stCxn id="62" idx="2"/>
              <a:endCxn id="161" idx="0"/>
            </p:cNvCxnSpPr>
            <p:nvPr/>
          </p:nvCxnSpPr>
          <p:spPr>
            <a:xfrm rot="5400000">
              <a:off x="1084221" y="3454297"/>
              <a:ext cx="1689711" cy="865355"/>
            </a:xfrm>
            <a:prstGeom prst="bentConnector3">
              <a:avLst>
                <a:gd name="adj1" fmla="val 82580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3" name="직사각형 172">
              <a:extLst>
                <a:ext uri="{FF2B5EF4-FFF2-40B4-BE49-F238E27FC236}">
                  <a16:creationId xmlns:a16="http://schemas.microsoft.com/office/drawing/2014/main" id="{568F9EA8-E798-C643-896A-C9136CB72217}"/>
                </a:ext>
              </a:extLst>
            </p:cNvPr>
            <p:cNvSpPr/>
            <p:nvPr/>
          </p:nvSpPr>
          <p:spPr>
            <a:xfrm>
              <a:off x="9657199" y="698875"/>
              <a:ext cx="2664384" cy="416432"/>
            </a:xfrm>
            <a:prstGeom prst="rect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dirty="0"/>
                <a:t>item </a:t>
              </a:r>
              <a:r>
                <a:rPr lang="ko-KR" altLang="en-US" sz="1400" b="1" dirty="0"/>
                <a:t>기반 </a:t>
              </a:r>
              <a:r>
                <a:rPr lang="en-US" altLang="ko-KR" sz="1400" b="1" dirty="0"/>
                <a:t>DFD </a:t>
              </a:r>
              <a:r>
                <a:rPr lang="ko-KR" altLang="en-US" sz="1400" b="1" dirty="0"/>
                <a:t>요소 정의</a:t>
              </a:r>
            </a:p>
          </p:txBody>
        </p:sp>
        <p:cxnSp>
          <p:nvCxnSpPr>
            <p:cNvPr id="177" name="연결선: 꺾임 176">
              <a:extLst>
                <a:ext uri="{FF2B5EF4-FFF2-40B4-BE49-F238E27FC236}">
                  <a16:creationId xmlns:a16="http://schemas.microsoft.com/office/drawing/2014/main" id="{94DCA5A4-4396-0F0F-E82B-DB124CD2C501}"/>
                </a:ext>
              </a:extLst>
            </p:cNvPr>
            <p:cNvCxnSpPr>
              <a:stCxn id="50" idx="0"/>
              <a:endCxn id="173" idx="0"/>
            </p:cNvCxnSpPr>
            <p:nvPr/>
          </p:nvCxnSpPr>
          <p:spPr>
            <a:xfrm rot="5400000" flipH="1" flipV="1">
              <a:off x="6233077" y="-4037804"/>
              <a:ext cx="19634" cy="9492993"/>
            </a:xfrm>
            <a:prstGeom prst="bentConnector3">
              <a:avLst>
                <a:gd name="adj1" fmla="val 1264307"/>
              </a:avLst>
            </a:prstGeom>
            <a:ln w="28575"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512A5155-035C-41F3-D83F-D9BCE905BCB6}"/>
                </a:ext>
              </a:extLst>
            </p:cNvPr>
            <p:cNvSpPr txBox="1"/>
            <p:nvPr/>
          </p:nvSpPr>
          <p:spPr>
            <a:xfrm>
              <a:off x="5039346" y="48245"/>
              <a:ext cx="22762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>
                  <a:solidFill>
                    <a:srgbClr val="FF0000"/>
                  </a:solidFill>
                </a:rPr>
                <a:t>XXX </a:t>
              </a:r>
              <a:r>
                <a:rPr lang="ko-KR" altLang="en-US" b="1" dirty="0">
                  <a:solidFill>
                    <a:srgbClr val="FF0000"/>
                  </a:solidFill>
                </a:rPr>
                <a:t>참고하여 정의</a:t>
              </a:r>
            </a:p>
          </p:txBody>
        </p:sp>
        <p:cxnSp>
          <p:nvCxnSpPr>
            <p:cNvPr id="180" name="직선 화살표 연결선 179">
              <a:extLst>
                <a:ext uri="{FF2B5EF4-FFF2-40B4-BE49-F238E27FC236}">
                  <a16:creationId xmlns:a16="http://schemas.microsoft.com/office/drawing/2014/main" id="{71B75B6F-708C-0BA3-84E5-13BCBD11FF7E}"/>
                </a:ext>
              </a:extLst>
            </p:cNvPr>
            <p:cNvCxnSpPr>
              <a:cxnSpLocks/>
              <a:stCxn id="62" idx="3"/>
              <a:endCxn id="79" idx="1"/>
            </p:cNvCxnSpPr>
            <p:nvPr/>
          </p:nvCxnSpPr>
          <p:spPr>
            <a:xfrm>
              <a:off x="3188940" y="2793382"/>
              <a:ext cx="1072486" cy="0"/>
            </a:xfrm>
            <a:prstGeom prst="straightConnector1">
              <a:avLst/>
            </a:prstGeom>
            <a:ln w="28575">
              <a:prstDash val="sysDot"/>
              <a:headEnd type="triangl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3" name="직선 화살표 연결선 182">
              <a:extLst>
                <a:ext uri="{FF2B5EF4-FFF2-40B4-BE49-F238E27FC236}">
                  <a16:creationId xmlns:a16="http://schemas.microsoft.com/office/drawing/2014/main" id="{35B376A3-E76D-B228-8D27-6E2181F83779}"/>
                </a:ext>
              </a:extLst>
            </p:cNvPr>
            <p:cNvCxnSpPr>
              <a:cxnSpLocks/>
              <a:stCxn id="53" idx="3"/>
              <a:endCxn id="82" idx="1"/>
            </p:cNvCxnSpPr>
            <p:nvPr/>
          </p:nvCxnSpPr>
          <p:spPr>
            <a:xfrm>
              <a:off x="1467658" y="3895529"/>
              <a:ext cx="2597825" cy="19632"/>
            </a:xfrm>
            <a:prstGeom prst="straightConnector1">
              <a:avLst/>
            </a:prstGeom>
            <a:ln w="28575">
              <a:prstDash val="sysDot"/>
              <a:headEnd type="triangl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87" name="직사각형 186">
              <a:extLst>
                <a:ext uri="{FF2B5EF4-FFF2-40B4-BE49-F238E27FC236}">
                  <a16:creationId xmlns:a16="http://schemas.microsoft.com/office/drawing/2014/main" id="{C6BE377A-BE66-3230-063D-DCF0998E7398}"/>
                </a:ext>
              </a:extLst>
            </p:cNvPr>
            <p:cNvSpPr/>
            <p:nvPr/>
          </p:nvSpPr>
          <p:spPr>
            <a:xfrm>
              <a:off x="3871628" y="4733878"/>
              <a:ext cx="3134868" cy="49337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/>
                <a:t>Mitigation </a:t>
              </a:r>
              <a:r>
                <a:rPr lang="en-US" altLang="ko-KR" sz="1200" b="1" dirty="0"/>
                <a:t>(=Countermeasure)</a:t>
              </a:r>
              <a:endParaRPr lang="ko-KR" altLang="en-US" b="1" dirty="0"/>
            </a:p>
          </p:txBody>
        </p:sp>
        <p:cxnSp>
          <p:nvCxnSpPr>
            <p:cNvPr id="188" name="직선 화살표 연결선 187">
              <a:extLst>
                <a:ext uri="{FF2B5EF4-FFF2-40B4-BE49-F238E27FC236}">
                  <a16:creationId xmlns:a16="http://schemas.microsoft.com/office/drawing/2014/main" id="{F9BD3121-DDFA-265F-FA2A-FFE0ACCDC37F}"/>
                </a:ext>
              </a:extLst>
            </p:cNvPr>
            <p:cNvCxnSpPr>
              <a:cxnSpLocks/>
              <a:stCxn id="161" idx="3"/>
              <a:endCxn id="187" idx="1"/>
            </p:cNvCxnSpPr>
            <p:nvPr/>
          </p:nvCxnSpPr>
          <p:spPr>
            <a:xfrm>
              <a:off x="2597384" y="4980567"/>
              <a:ext cx="1274244" cy="0"/>
            </a:xfrm>
            <a:prstGeom prst="straightConnector1">
              <a:avLst/>
            </a:prstGeom>
            <a:ln w="28575">
              <a:prstDash val="sysDot"/>
              <a:headEnd type="triangl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1" name="직선 화살표 연결선 190">
              <a:extLst>
                <a:ext uri="{FF2B5EF4-FFF2-40B4-BE49-F238E27FC236}">
                  <a16:creationId xmlns:a16="http://schemas.microsoft.com/office/drawing/2014/main" id="{1B33BDCD-1C4D-6E57-5C76-113B31A039CA}"/>
                </a:ext>
              </a:extLst>
            </p:cNvPr>
            <p:cNvCxnSpPr>
              <a:cxnSpLocks/>
              <a:stCxn id="173" idx="2"/>
              <a:endCxn id="208" idx="0"/>
            </p:cNvCxnSpPr>
            <p:nvPr/>
          </p:nvCxnSpPr>
          <p:spPr>
            <a:xfrm>
              <a:off x="10989391" y="1115307"/>
              <a:ext cx="0" cy="46263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95" name="순서도: 자기 디스크 194">
              <a:extLst>
                <a:ext uri="{FF2B5EF4-FFF2-40B4-BE49-F238E27FC236}">
                  <a16:creationId xmlns:a16="http://schemas.microsoft.com/office/drawing/2014/main" id="{213E11FA-EE9E-8ADF-672F-E56CD142BDF3}"/>
                </a:ext>
              </a:extLst>
            </p:cNvPr>
            <p:cNvSpPr/>
            <p:nvPr/>
          </p:nvSpPr>
          <p:spPr>
            <a:xfrm>
              <a:off x="12894909" y="2375296"/>
              <a:ext cx="541175" cy="752669"/>
            </a:xfrm>
            <a:prstGeom prst="flowChartMagneticDisk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endParaRPr lang="ko-KR" altLang="en-US" b="1" dirty="0"/>
            </a:p>
          </p:txBody>
        </p:sp>
        <p:cxnSp>
          <p:nvCxnSpPr>
            <p:cNvPr id="200" name="직선 화살표 연결선 199">
              <a:extLst>
                <a:ext uri="{FF2B5EF4-FFF2-40B4-BE49-F238E27FC236}">
                  <a16:creationId xmlns:a16="http://schemas.microsoft.com/office/drawing/2014/main" id="{3768AAEE-73F8-EE92-8F93-B19520D0EDCB}"/>
                </a:ext>
              </a:extLst>
            </p:cNvPr>
            <p:cNvCxnSpPr>
              <a:stCxn id="195" idx="2"/>
              <a:endCxn id="41" idx="3"/>
            </p:cNvCxnSpPr>
            <p:nvPr/>
          </p:nvCxnSpPr>
          <p:spPr>
            <a:xfrm flipH="1">
              <a:off x="12321583" y="2751631"/>
              <a:ext cx="573326" cy="243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01" name="TextBox 200">
              <a:extLst>
                <a:ext uri="{FF2B5EF4-FFF2-40B4-BE49-F238E27FC236}">
                  <a16:creationId xmlns:a16="http://schemas.microsoft.com/office/drawing/2014/main" id="{DC64BCF7-A899-5E25-32C6-98F0DF1F02DC}"/>
                </a:ext>
              </a:extLst>
            </p:cNvPr>
            <p:cNvSpPr txBox="1"/>
            <p:nvPr/>
          </p:nvSpPr>
          <p:spPr>
            <a:xfrm>
              <a:off x="12321583" y="3196523"/>
              <a:ext cx="174919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b="1" dirty="0"/>
                <a:t>[</a:t>
              </a:r>
              <a:r>
                <a:rPr lang="ko-KR" altLang="en-US" sz="1400" b="1" dirty="0"/>
                <a:t>공격데이터베이스</a:t>
              </a:r>
              <a:r>
                <a:rPr lang="en-US" altLang="ko-KR" sz="1400" b="1" dirty="0"/>
                <a:t>]</a:t>
              </a:r>
              <a:endParaRPr lang="ko-KR" altLang="en-US" sz="1400" b="1" dirty="0"/>
            </a:p>
          </p:txBody>
        </p:sp>
        <p:sp>
          <p:nvSpPr>
            <p:cNvPr id="202" name="직사각형 201">
              <a:extLst>
                <a:ext uri="{FF2B5EF4-FFF2-40B4-BE49-F238E27FC236}">
                  <a16:creationId xmlns:a16="http://schemas.microsoft.com/office/drawing/2014/main" id="{3B877B25-C012-C5E4-5A57-38697F9FD7B0}"/>
                </a:ext>
              </a:extLst>
            </p:cNvPr>
            <p:cNvSpPr/>
            <p:nvPr/>
          </p:nvSpPr>
          <p:spPr>
            <a:xfrm>
              <a:off x="9657199" y="3570337"/>
              <a:ext cx="2664384" cy="609698"/>
            </a:xfrm>
            <a:prstGeom prst="rect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dirty="0"/>
                <a:t>Attack</a:t>
              </a:r>
              <a:r>
                <a:rPr lang="ko-KR" altLang="en-US" sz="1400" b="1" dirty="0"/>
                <a:t> </a:t>
              </a:r>
              <a:r>
                <a:rPr lang="en-US" altLang="ko-KR" sz="1400" b="1" dirty="0"/>
                <a:t>Feasibility</a:t>
              </a:r>
              <a:r>
                <a:rPr lang="ko-KR" altLang="en-US" sz="1400" b="1" dirty="0"/>
                <a:t>를 기반으로 </a:t>
              </a:r>
              <a:r>
                <a:rPr lang="en-US" altLang="ko-KR" sz="1400" b="1" dirty="0"/>
                <a:t>DFD</a:t>
              </a:r>
              <a:r>
                <a:rPr lang="ko-KR" altLang="en-US" sz="1400" b="1" dirty="0"/>
                <a:t>를 최소 </a:t>
              </a:r>
              <a:r>
                <a:rPr lang="ko-KR" altLang="en-US" sz="1400" b="1" dirty="0" err="1"/>
                <a:t>신장트리로</a:t>
              </a:r>
              <a:r>
                <a:rPr lang="ko-KR" altLang="en-US" sz="1400" b="1" dirty="0"/>
                <a:t> 변환</a:t>
              </a:r>
            </a:p>
          </p:txBody>
        </p:sp>
        <p:sp>
          <p:nvSpPr>
            <p:cNvPr id="208" name="직사각형 207">
              <a:extLst>
                <a:ext uri="{FF2B5EF4-FFF2-40B4-BE49-F238E27FC236}">
                  <a16:creationId xmlns:a16="http://schemas.microsoft.com/office/drawing/2014/main" id="{BEFF8A25-37F9-1364-85BD-16534A7A50E3}"/>
                </a:ext>
              </a:extLst>
            </p:cNvPr>
            <p:cNvSpPr/>
            <p:nvPr/>
          </p:nvSpPr>
          <p:spPr>
            <a:xfrm>
              <a:off x="9657199" y="1577941"/>
              <a:ext cx="2664384" cy="416432"/>
            </a:xfrm>
            <a:prstGeom prst="rect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dirty="0"/>
                <a:t>DFD</a:t>
              </a:r>
              <a:r>
                <a:rPr lang="ko-KR" altLang="en-US" sz="1400" b="1" dirty="0"/>
                <a:t> 요소 중 자산 선정</a:t>
              </a:r>
            </a:p>
          </p:txBody>
        </p:sp>
        <p:cxnSp>
          <p:nvCxnSpPr>
            <p:cNvPr id="211" name="직선 화살표 연결선 210">
              <a:extLst>
                <a:ext uri="{FF2B5EF4-FFF2-40B4-BE49-F238E27FC236}">
                  <a16:creationId xmlns:a16="http://schemas.microsoft.com/office/drawing/2014/main" id="{982D5B23-4363-BBB2-81F8-9759A2C96EEA}"/>
                </a:ext>
              </a:extLst>
            </p:cNvPr>
            <p:cNvCxnSpPr>
              <a:cxnSpLocks/>
              <a:stCxn id="208" idx="2"/>
              <a:endCxn id="41" idx="0"/>
            </p:cNvCxnSpPr>
            <p:nvPr/>
          </p:nvCxnSpPr>
          <p:spPr>
            <a:xfrm>
              <a:off x="10989391" y="1994373"/>
              <a:ext cx="0" cy="45484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4" name="직선 화살표 연결선 213">
              <a:extLst>
                <a:ext uri="{FF2B5EF4-FFF2-40B4-BE49-F238E27FC236}">
                  <a16:creationId xmlns:a16="http://schemas.microsoft.com/office/drawing/2014/main" id="{6EAA6981-9FF3-5766-7394-CA7178756A03}"/>
                </a:ext>
              </a:extLst>
            </p:cNvPr>
            <p:cNvCxnSpPr>
              <a:cxnSpLocks/>
              <a:stCxn id="41" idx="2"/>
              <a:endCxn id="202" idx="0"/>
            </p:cNvCxnSpPr>
            <p:nvPr/>
          </p:nvCxnSpPr>
          <p:spPr>
            <a:xfrm>
              <a:off x="10989391" y="3058917"/>
              <a:ext cx="0" cy="51142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17" name="직사각형 216">
              <a:extLst>
                <a:ext uri="{FF2B5EF4-FFF2-40B4-BE49-F238E27FC236}">
                  <a16:creationId xmlns:a16="http://schemas.microsoft.com/office/drawing/2014/main" id="{82DB1070-2C8A-2850-8CAF-79B5E4F20747}"/>
                </a:ext>
              </a:extLst>
            </p:cNvPr>
            <p:cNvSpPr/>
            <p:nvPr/>
          </p:nvSpPr>
          <p:spPr>
            <a:xfrm>
              <a:off x="9216244" y="4567879"/>
              <a:ext cx="3546294" cy="609698"/>
            </a:xfrm>
            <a:prstGeom prst="rect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/>
                <a:t>변환된 최소 </a:t>
              </a:r>
              <a:r>
                <a:rPr lang="ko-KR" altLang="en-US" sz="1400" b="1" dirty="0" err="1"/>
                <a:t>신장트리들을</a:t>
              </a:r>
              <a:r>
                <a:rPr lang="ko-KR" altLang="en-US" sz="1400" b="1" dirty="0"/>
                <a:t> 분석하여 자산까지 도달할 수 있는 공격 경로 식별</a:t>
              </a:r>
            </a:p>
          </p:txBody>
        </p:sp>
        <p:cxnSp>
          <p:nvCxnSpPr>
            <p:cNvPr id="218" name="직선 화살표 연결선 217">
              <a:extLst>
                <a:ext uri="{FF2B5EF4-FFF2-40B4-BE49-F238E27FC236}">
                  <a16:creationId xmlns:a16="http://schemas.microsoft.com/office/drawing/2014/main" id="{6AB4CD37-93A7-4032-4C12-B8329689414D}"/>
                </a:ext>
              </a:extLst>
            </p:cNvPr>
            <p:cNvCxnSpPr>
              <a:cxnSpLocks/>
              <a:stCxn id="202" idx="2"/>
              <a:endCxn id="217" idx="0"/>
            </p:cNvCxnSpPr>
            <p:nvPr/>
          </p:nvCxnSpPr>
          <p:spPr>
            <a:xfrm>
              <a:off x="10989391" y="4180035"/>
              <a:ext cx="0" cy="38784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22" name="TextBox 221">
              <a:extLst>
                <a:ext uri="{FF2B5EF4-FFF2-40B4-BE49-F238E27FC236}">
                  <a16:creationId xmlns:a16="http://schemas.microsoft.com/office/drawing/2014/main" id="{BC806B3E-4145-FD6E-7F0C-CF9F53E18C3C}"/>
                </a:ext>
              </a:extLst>
            </p:cNvPr>
            <p:cNvSpPr txBox="1"/>
            <p:nvPr/>
          </p:nvSpPr>
          <p:spPr>
            <a:xfrm>
              <a:off x="12370925" y="3885567"/>
              <a:ext cx="344761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dirty="0"/>
                <a:t>최소 </a:t>
              </a:r>
              <a:r>
                <a:rPr lang="ko-KR" altLang="en-US" sz="1200" b="1" dirty="0" err="1"/>
                <a:t>신장트리를</a:t>
              </a:r>
              <a:r>
                <a:rPr lang="ko-KR" altLang="en-US" sz="1200" b="1" dirty="0"/>
                <a:t> 만들기 위한 최초 지점 </a:t>
              </a:r>
              <a:r>
                <a:rPr lang="en-US" altLang="ko-KR" sz="1200" b="1" dirty="0">
                  <a:sym typeface="Wingdings" panose="05000000000000000000" pitchFamily="2" charset="2"/>
                </a:rPr>
                <a:t> </a:t>
              </a:r>
            </a:p>
            <a:p>
              <a:r>
                <a:rPr lang="en-US" altLang="ko-KR" sz="1200" b="1" dirty="0">
                  <a:sym typeface="Wingdings" panose="05000000000000000000" pitchFamily="2" charset="2"/>
                </a:rPr>
                <a:t>In </a:t>
              </a:r>
              <a:r>
                <a:rPr lang="ko-KR" altLang="en-US" sz="1200" b="1" dirty="0">
                  <a:sym typeface="Wingdings" panose="05000000000000000000" pitchFamily="2" charset="2"/>
                </a:rPr>
                <a:t>관련 </a:t>
              </a:r>
              <a:r>
                <a:rPr lang="en-US" altLang="ko-KR" sz="1200" b="1" dirty="0">
                  <a:sym typeface="Wingdings" panose="05000000000000000000" pitchFamily="2" charset="2"/>
                </a:rPr>
                <a:t>Technique</a:t>
              </a:r>
              <a:r>
                <a:rPr lang="ko-KR" altLang="en-US" sz="1200" b="1" dirty="0">
                  <a:sym typeface="Wingdings" panose="05000000000000000000" pitchFamily="2" charset="2"/>
                </a:rPr>
                <a:t>이</a:t>
              </a:r>
              <a:r>
                <a:rPr lang="en-US" altLang="ko-KR" sz="1200" b="1" dirty="0">
                  <a:sym typeface="Wingdings" panose="05000000000000000000" pitchFamily="2" charset="2"/>
                </a:rPr>
                <a:t> </a:t>
              </a:r>
              <a:r>
                <a:rPr lang="ko-KR" altLang="en-US" sz="1200" b="1" dirty="0">
                  <a:sym typeface="Wingdings" panose="05000000000000000000" pitchFamily="2" charset="2"/>
                </a:rPr>
                <a:t>발생할 수 있는 </a:t>
              </a:r>
              <a:r>
                <a:rPr lang="en-US" altLang="ko-KR" sz="1200" b="1" dirty="0">
                  <a:sym typeface="Wingdings" panose="05000000000000000000" pitchFamily="2" charset="2"/>
                </a:rPr>
                <a:t>DFD</a:t>
              </a:r>
              <a:r>
                <a:rPr lang="ko-KR" altLang="en-US" sz="1200" b="1" dirty="0">
                  <a:sym typeface="Wingdings" panose="05000000000000000000" pitchFamily="2" charset="2"/>
                </a:rPr>
                <a:t> 요소</a:t>
              </a:r>
              <a:endParaRPr lang="ko-KR" altLang="en-US" sz="1200" b="1" dirty="0"/>
            </a:p>
          </p:txBody>
        </p:sp>
        <p:sp>
          <p:nvSpPr>
            <p:cNvPr id="223" name="TextBox 222">
              <a:extLst>
                <a:ext uri="{FF2B5EF4-FFF2-40B4-BE49-F238E27FC236}">
                  <a16:creationId xmlns:a16="http://schemas.microsoft.com/office/drawing/2014/main" id="{42E5D5F0-6951-5450-9359-F9400E08CA70}"/>
                </a:ext>
              </a:extLst>
            </p:cNvPr>
            <p:cNvSpPr txBox="1"/>
            <p:nvPr/>
          </p:nvSpPr>
          <p:spPr>
            <a:xfrm>
              <a:off x="12762538" y="4567879"/>
              <a:ext cx="3579057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dirty="0"/>
                <a:t>자산에 해당하는 노드 </a:t>
              </a:r>
              <a:r>
                <a:rPr lang="en-US" altLang="ko-KR" sz="1200" b="1" dirty="0">
                  <a:sym typeface="Wingdings" panose="05000000000000000000" pitchFamily="2" charset="2"/>
                </a:rPr>
                <a:t> </a:t>
              </a:r>
            </a:p>
            <a:p>
              <a:r>
                <a:rPr lang="en-US" altLang="ko-KR" sz="1200" b="1" dirty="0">
                  <a:sym typeface="Wingdings" panose="05000000000000000000" pitchFamily="2" charset="2"/>
                </a:rPr>
                <a:t>Out </a:t>
              </a:r>
              <a:r>
                <a:rPr lang="ko-KR" altLang="en-US" sz="1200" b="1" dirty="0">
                  <a:sym typeface="Wingdings" panose="05000000000000000000" pitchFamily="2" charset="2"/>
                </a:rPr>
                <a:t>관련 </a:t>
              </a:r>
              <a:r>
                <a:rPr lang="en-US" altLang="ko-KR" sz="1200" b="1" dirty="0">
                  <a:sym typeface="Wingdings" panose="05000000000000000000" pitchFamily="2" charset="2"/>
                </a:rPr>
                <a:t>Technique</a:t>
              </a:r>
              <a:r>
                <a:rPr lang="ko-KR" altLang="en-US" sz="1200" b="1" dirty="0">
                  <a:sym typeface="Wingdings" panose="05000000000000000000" pitchFamily="2" charset="2"/>
                </a:rPr>
                <a:t>이</a:t>
              </a:r>
              <a:r>
                <a:rPr lang="en-US" altLang="ko-KR" sz="1200" b="1" dirty="0">
                  <a:sym typeface="Wingdings" panose="05000000000000000000" pitchFamily="2" charset="2"/>
                </a:rPr>
                <a:t> </a:t>
              </a:r>
              <a:r>
                <a:rPr lang="ko-KR" altLang="en-US" sz="1200" b="1" dirty="0">
                  <a:sym typeface="Wingdings" panose="05000000000000000000" pitchFamily="2" charset="2"/>
                </a:rPr>
                <a:t>발생할 수 있는 </a:t>
              </a:r>
              <a:r>
                <a:rPr lang="en-US" altLang="ko-KR" sz="1200" b="1" dirty="0">
                  <a:sym typeface="Wingdings" panose="05000000000000000000" pitchFamily="2" charset="2"/>
                </a:rPr>
                <a:t>DFD</a:t>
              </a:r>
              <a:r>
                <a:rPr lang="ko-KR" altLang="en-US" sz="1200" b="1" dirty="0">
                  <a:sym typeface="Wingdings" panose="05000000000000000000" pitchFamily="2" charset="2"/>
                </a:rPr>
                <a:t> 요소</a:t>
              </a:r>
              <a:endParaRPr lang="en-US" altLang="ko-KR" sz="1200" b="1" dirty="0">
                <a:sym typeface="Wingdings" panose="05000000000000000000" pitchFamily="2" charset="2"/>
              </a:endParaRPr>
            </a:p>
            <a:p>
              <a:endParaRPr lang="en-US" altLang="ko-KR" sz="1200" b="1" dirty="0">
                <a:sym typeface="Wingdings" panose="05000000000000000000" pitchFamily="2" charset="2"/>
              </a:endParaRPr>
            </a:p>
            <a:p>
              <a:r>
                <a:rPr lang="ko-KR" altLang="en-US" sz="1200" b="1" dirty="0">
                  <a:sym typeface="Wingdings" panose="05000000000000000000" pitchFamily="2" charset="2"/>
                </a:rPr>
                <a:t>공격 경로 식별 </a:t>
              </a:r>
              <a:r>
                <a:rPr lang="en-US" altLang="ko-KR" sz="1200" b="1" dirty="0">
                  <a:sym typeface="Wingdings" panose="05000000000000000000" pitchFamily="2" charset="2"/>
                </a:rPr>
                <a:t></a:t>
              </a:r>
            </a:p>
            <a:p>
              <a:r>
                <a:rPr lang="ko-KR" altLang="en-US" sz="1200" b="1" dirty="0">
                  <a:sym typeface="Wingdings" panose="05000000000000000000" pitchFamily="2" charset="2"/>
                </a:rPr>
                <a:t>그래프 탐색 알고리즘 활용</a:t>
              </a:r>
              <a:endParaRPr lang="ko-KR" altLang="en-US" sz="1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8679608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t"/>
      <a:lstStyle>
        <a:defPPr algn="ctr">
          <a:defRPr b="1" dirty="0" smtClean="0"/>
        </a:defPPr>
      </a:lstStyle>
      <a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156</Words>
  <Application>Microsoft Office PowerPoint</Application>
  <PresentationFormat>와이드스크린</PresentationFormat>
  <Paragraphs>38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Wingdings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G1 Kwak</dc:creator>
  <cp:lastModifiedBy>백근우[ 정보보호대학원석사과정수료연구(재학) / 정보보호학과 ]</cp:lastModifiedBy>
  <cp:revision>2</cp:revision>
  <dcterms:created xsi:type="dcterms:W3CDTF">2025-12-31T17:41:22Z</dcterms:created>
  <dcterms:modified xsi:type="dcterms:W3CDTF">2026-01-02T10:42:07Z</dcterms:modified>
</cp:coreProperties>
</file>